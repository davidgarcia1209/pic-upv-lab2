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8"/>
  </p:notesMasterIdLst>
  <p:handoutMasterIdLst>
    <p:handoutMasterId r:id="rId19"/>
  </p:handoutMasterIdLst>
  <p:sldIdLst>
    <p:sldId id="256" r:id="rId2"/>
    <p:sldId id="289" r:id="rId3"/>
    <p:sldId id="295" r:id="rId4"/>
    <p:sldId id="302" r:id="rId5"/>
    <p:sldId id="303" r:id="rId6"/>
    <p:sldId id="291" r:id="rId7"/>
    <p:sldId id="296" r:id="rId8"/>
    <p:sldId id="294" r:id="rId9"/>
    <p:sldId id="299" r:id="rId10"/>
    <p:sldId id="300" r:id="rId11"/>
    <p:sldId id="301" r:id="rId12"/>
    <p:sldId id="297" r:id="rId13"/>
    <p:sldId id="290" r:id="rId14"/>
    <p:sldId id="292" r:id="rId15"/>
    <p:sldId id="298" r:id="rId16"/>
    <p:sldId id="288" r:id="rId17"/>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80" d="100"/>
          <a:sy n="80" d="100"/>
        </p:scale>
        <p:origin x="114" y="684"/>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02/03/2026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02/03/2026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https://github.com/cccanvas-upv/pic-upv-lab2.git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length and coupling coefficient</a:t>
            </a:r>
            <a:br>
              <a:rPr lang="en-US" sz="2500" spc="-5" dirty="0">
                <a:latin typeface="+mj-lt"/>
                <a:cs typeface="Lucida Sans"/>
              </a:rPr>
            </a:br>
            <a:r>
              <a:rPr lang="en-US" b="0" dirty="0"/>
              <a:t>Wavelength 1.5 µm – width 1.2 µm – gap 0.6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r>
              <a:rPr lang="en-US" sz="1200" dirty="0">
                <a:latin typeface="Arial" panose="020B0604020202020204" pitchFamily="34" charset="0"/>
                <a:cs typeface="Arial" panose="020B0604020202020204" pitchFamily="34" charset="0"/>
              </a:rPr>
              <a:t>In the following the coupling coefficient in terms of the proportion L/</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is represented. This parameter indicates the proportion of energy transferred from one port to another depending on the distance of the directional coupler.</a:t>
            </a:r>
          </a:p>
          <a:p>
            <a:pPr algn="just"/>
            <a:r>
              <a:rPr lang="en-US" sz="1200" dirty="0">
                <a:latin typeface="Arial" panose="020B0604020202020204" pitchFamily="34" charset="0"/>
                <a:cs typeface="Arial" panose="020B0604020202020204" pitchFamily="34" charset="0"/>
              </a:rPr>
              <a:t>For a complete energy transfer, a distance of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is required, obtaining a value k=1.0.</a:t>
            </a:r>
          </a:p>
          <a:p>
            <a:pPr algn="just"/>
            <a:r>
              <a:rPr lang="en-US" sz="1200" dirty="0">
                <a:latin typeface="Arial" panose="020B0604020202020204" pitchFamily="34" charset="0"/>
                <a:cs typeface="Arial" panose="020B0604020202020204" pitchFamily="34" charset="0"/>
              </a:rPr>
              <a:t>If we required a half power splitting, then the coupling coefficient needs to be k=0.5, which is found for L/</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=1.5, which means a distance of 1.5 times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a:t>
            </a:r>
            <a:r>
              <a:rPr lang="en-US" dirty="0" err="1"/>
              <a:t>Lpi</a:t>
            </a:r>
            <a:r>
              <a:rPr lang="en-US" dirty="0"/>
              <a:t> vs K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pic>
        <p:nvPicPr>
          <p:cNvPr id="12" name="Picture 11" descr="A graph with blue lines&#10;&#10;AI-generated content may be incorrect.">
            <a:extLst>
              <a:ext uri="{FF2B5EF4-FFF2-40B4-BE49-F238E27FC236}">
                <a16:creationId xmlns:a16="http://schemas.microsoft.com/office/drawing/2014/main" id="{C4FD822E-F47A-D7C3-F6FF-2227E61FDFC2}"/>
              </a:ext>
            </a:extLst>
          </p:cNvPr>
          <p:cNvPicPr>
            <a:picLocks noChangeAspect="1"/>
          </p:cNvPicPr>
          <p:nvPr/>
        </p:nvPicPr>
        <p:blipFill>
          <a:blip r:embed="rId6"/>
          <a:stretch>
            <a:fillRect/>
          </a:stretch>
        </p:blipFill>
        <p:spPr>
          <a:xfrm>
            <a:off x="4343400" y="1475952"/>
            <a:ext cx="5075046" cy="3216494"/>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Width 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output text here</a:t>
            </a:r>
          </a:p>
        </p:txBody>
      </p:sp>
    </p:spTree>
    <p:extLst>
      <p:ext uri="{BB962C8B-B14F-4D97-AF65-F5344CB8AC3E}">
        <p14:creationId xmlns:p14="http://schemas.microsoft.com/office/powerpoint/2010/main" val="15583268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Parallel uncoupled waveguides</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212365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200329"/>
              </a:xfrm>
              <a:prstGeom prst="rect">
                <a:avLst/>
              </a:prstGeom>
              <a:blipFill>
                <a:blip r:embed="rId6"/>
                <a:stretch>
                  <a:fillRect t="-3046" b="-7107"/>
                </a:stretch>
              </a:blipFill>
            </p:spPr>
            <p:txBody>
              <a:bodyPr/>
              <a:lstStyle/>
              <a:p>
                <a:r>
                  <a:rPr lang="es-ES">
                    <a:noFill/>
                  </a:rPr>
                  <a:t> </a:t>
                </a:r>
              </a:p>
            </p:txBody>
          </p:sp>
        </mc:Fallback>
      </mc:AlternateContent>
    </p:spTree>
    <p:extLst>
      <p:ext uri="{BB962C8B-B14F-4D97-AF65-F5344CB8AC3E}">
        <p14:creationId xmlns:p14="http://schemas.microsoft.com/office/powerpoint/2010/main" val="37123560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4.1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0DA14DBA-172E-DA2C-0573-6A00BF18F4A5}"/>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28156794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643565A9-7DB6-D6EE-152F-2852C8BA7986}"/>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equal ratio over outputs (even if not 0.5) and minimize excess loss (even if not 0.0 dB)</a:t>
            </a:r>
          </a:p>
          <a:p>
            <a:pPr algn="r"/>
            <a:r>
              <a:rPr lang="en-US" sz="1600" dirty="0"/>
              <a:t>With same settings of previous LO, now adjust try to manually optimize the MMI by changing iteratively:</a:t>
            </a:r>
          </a:p>
          <a:p>
            <a:pPr algn="r"/>
            <a:r>
              <a:rPr lang="en-US" sz="1600" dirty="0"/>
              <a:t>- Change </a:t>
            </a:r>
            <a:r>
              <a:rPr lang="en-US" sz="1600" dirty="0" err="1"/>
              <a:t>dL_MMI</a:t>
            </a:r>
            <a:endParaRPr lang="en-US" sz="1600" dirty="0"/>
          </a:p>
          <a:p>
            <a:pPr algn="r"/>
            <a:r>
              <a:rPr lang="en-US" sz="1600" dirty="0"/>
              <a:t>- Change I/O waveguide position +/- </a:t>
            </a:r>
            <a:r>
              <a:rPr lang="en-US" sz="1600" dirty="0" err="1"/>
              <a:t>dy</a:t>
            </a:r>
            <a:endParaRPr lang="en-US" sz="1600" dirty="0"/>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26852157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B0CFB20A-64F3-A296-71E8-F4FA17D35314}"/>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ratio over outputs 0.5 + excess loss &lt; 0.1 dB</a:t>
            </a:r>
          </a:p>
          <a:p>
            <a:pPr algn="r"/>
            <a:r>
              <a:rPr lang="en-US" sz="1600" dirty="0"/>
              <a:t>With same settings of previous LO, now modify the notebook so I/O waveguides have a different width. </a:t>
            </a:r>
          </a:p>
          <a:p>
            <a:pPr algn="r"/>
            <a:r>
              <a:rPr lang="en-US" sz="1600" u="sng" dirty="0"/>
              <a:t>- The nominal I/O waveguide width you have been using is 1.0 µm, increase it.</a:t>
            </a:r>
          </a:p>
          <a:p>
            <a:pPr algn="r"/>
            <a:r>
              <a:rPr lang="en-US" sz="1600" b="1" dirty="0"/>
              <a:t>(Warning</a:t>
            </a:r>
            <a:r>
              <a:rPr lang="en-US" sz="1600" dirty="0"/>
              <a:t>! Every time you change the I/O waveguide width you have to re-run modes calculation)</a:t>
            </a:r>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10237312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a:t>
            </a:r>
            <a:r>
              <a:rPr lang="en-US" sz="2500"/>
              <a:t>outcome #5 </a:t>
            </a:r>
            <a:r>
              <a:rPr lang="en-US" sz="2500" dirty="0"/>
              <a:t>– 1x4 Multimode Interference Coupler </a:t>
            </a:r>
            <a:br>
              <a:rPr lang="en-US" sz="2500" dirty="0"/>
            </a:br>
            <a:r>
              <a:rPr lang="en-US" b="0" dirty="0"/>
              <a:t>Wavelength 1.55 µm, </a:t>
            </a:r>
            <a:r>
              <a:rPr lang="en-US" b="0" dirty="0" err="1"/>
              <a:t>wMMI</a:t>
            </a:r>
            <a:r>
              <a:rPr lang="en-US" b="0" dirty="0"/>
              <a:t> = ?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6998643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16</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838</TotalTime>
  <Words>1072</Words>
  <Application>Microsoft Office PowerPoint</Application>
  <PresentationFormat>Widescreen</PresentationFormat>
  <Paragraphs>199</Paragraphs>
  <Slides>16</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Aptos</vt:lpstr>
      <vt:lpstr>Arial</vt:lpstr>
      <vt:lpstr>Calibri</vt:lpstr>
      <vt:lpstr>Cambria Math</vt:lpstr>
      <vt:lpstr>Lucida Sans</vt:lpstr>
      <vt:lpstr>Times New Roman</vt:lpstr>
      <vt:lpstr>Wingdings</vt:lpstr>
      <vt:lpstr>Office Theme</vt:lpstr>
      <vt:lpstr>PowerPoint Presentation</vt:lpstr>
      <vt:lpstr>Instructions General</vt:lpstr>
      <vt:lpstr>PowerPoint Presentation</vt:lpstr>
      <vt:lpstr>Learning outcome #1 – Directional coupler length and coupling coefficient Wavelength 1.5 µm – width 1.2 µm – gap 0.6 µm</vt:lpstr>
      <vt:lpstr>Learning outcome #2 – 2x2 Directional Coupler Width 0.6 - 1.6 µm (step 0.1 µm) – Wavelength 1.55 µm </vt:lpstr>
      <vt:lpstr>Learning outcome #3 – Parallel uncoupled waveguides Wavelength 1.55 µm, width 1.0 µm, gap to be found for uncoupled wvgs</vt:lpstr>
      <vt:lpstr>PowerPoint Presentation</vt:lpstr>
      <vt:lpstr>Learning outcome #4 – 4.1 2x2 Multimode Interference Coupler  Wavelength 1.55 µm, wMMI = 6.6 µm</vt:lpstr>
      <vt:lpstr>Learning outcome #4.2 – 2x2 Multimode Interference Coupler - Optimization Wavelength 1.55 µm, wMMI = 6.6 µm</vt:lpstr>
      <vt:lpstr>Learning outcome #4.3 – 2x2 Multimode Interference Coupler – Optimization (II) Wavelength 1.55 µm, wMMI = 6.6 µm</vt:lpstr>
      <vt:lpstr>Learning outcome #5 – 1x4 Multimode Interference Coupler  Wavelength 1.55 µm, wMMI = ? µm</vt:lpstr>
      <vt:lpstr>Extra #1 – Directional wavelength dependence Wavelengths from 1.5 to 1.7 µm, gap = 0.6 µm, width 1.0 µm  </vt:lpstr>
      <vt:lpstr>Extra #2 – Directional coupler gap dependence Wavelength 1.55 µm, width 1.0 µm, gap 0.2-2.4 µm (step 0.2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David Garcia Santes</cp:lastModifiedBy>
  <cp:revision>11</cp:revision>
  <dcterms:created xsi:type="dcterms:W3CDTF">2025-01-27T02:46:57Z</dcterms:created>
  <dcterms:modified xsi:type="dcterms:W3CDTF">2026-03-02T09:26:27Z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